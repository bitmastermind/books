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we're going to cover where AI came from and where it's heading. Start with the title on screen and let it breathe for a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this question. Let people actually answer — yes or no. The reveal in the next slide is the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their actual day. Morning → commute → work → evening. The punchline lands after you've shown 6 real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chapter overview. Tell them: the story has two false starts before it finally took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these were theoretical foundations. Nobody had a computer powerful enough to test anything seriously. They were dreamers with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researchers were BRILLIANT. The problem wasn't intelligence — it was approach. Rules written by humans can't capture the complexity of the real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shift is everything. From humans encoding knowledge to machines discovering it from data. This is the philosophical break that unlocked the next 30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AlexNet is the Big Bang. Before this, AI was a niche academic topic. After this, every major tech company started hiring AI researchers and throwing compute at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NVIDIA becomes the backbone of AI entirely by accident — GPUs were built for gaming. The insight that changed everything: matrix multiplication is the core of both gaming graphics and neural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single slide. Everything — ChatGPT, Claude, Gemini — is built on this architecture. 8 researchers at Google wrote 15 pages and changed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ChatGPT is the iPhone moment. Not the first smartphone — but the one that made everyone understand what smartphones could do. Same here: not the first LLM, but the one that made it real for the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simple. The audience doesn't need to know backpropagation. They need to understand: trained on text, works with word chunks, and pays attention to context. That's the mental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quote. Then open the floor. Suggested first question to the audience: 'What's one thing at your job that AI could probably do faster?' This leads naturally into a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3657600"/>
            <a:ext cx="1371600" cy="13716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of AI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Curious Dream to the Intelligence Revolution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years  ·  2 winters  ·  1 paper that changed everything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82880"/>
            <a:ext cx="3657600" cy="3657600"/>
          </a:xfrm>
          <a:prstGeom prst="ellipse">
            <a:avLst/>
          </a:prstGeom>
          <a:solidFill>
            <a:srgbClr val="6366F1">
              <a:alpha val="9000"/>
            </a:srgbClr>
          </a:solidFill>
          <a:ln w="12700">
            <a:solidFill>
              <a:srgbClr val="6366F1">
                <a:alpha val="9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097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 told you that you’ve been using AI every single day for the last 5 years 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you believe me?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find out.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Use AI. Every. Day.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programmed these behaviours. The machine figured them out.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65760" y="1207008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499616"/>
            <a:ext cx="566928" cy="566928"/>
          </a:xfrm>
          <a:prstGeom prst="ellipse">
            <a:avLst/>
          </a:prstGeom>
          <a:solidFill>
            <a:srgbClr val="6366F1">
              <a:alpha val="88000"/>
            </a:srgbClr>
          </a:solidFill>
          <a:ln w="12700">
            <a:solidFill>
              <a:srgbClr val="6366F1">
                <a:alpha val="88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93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4264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07008" y="177393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 unlocks your phone every morning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10128" y="1207008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499616"/>
            <a:ext cx="566928" cy="566928"/>
          </a:xfrm>
          <a:prstGeom prst="ellipse">
            <a:avLst/>
          </a:prstGeom>
          <a:solidFill>
            <a:srgbClr val="0EA5E9">
              <a:alpha val="88000"/>
            </a:srgbClr>
          </a:solidFill>
          <a:ln w="12700">
            <a:solidFill>
              <a:srgbClr val="0EA5E9">
                <a:alpha val="88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6093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51376" y="14264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151376" y="177393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Reroutes around traffic jams in real time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54496" y="1207008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19088" y="1499616"/>
            <a:ext cx="566928" cy="566928"/>
          </a:xfrm>
          <a:prstGeom prst="ellipse">
            <a:avLst/>
          </a:prstGeom>
          <a:solidFill>
            <a:srgbClr val="22C55E">
              <a:alpha val="88000"/>
            </a:srgbClr>
          </a:solidFill>
          <a:ln w="12700">
            <a:solidFill>
              <a:srgbClr val="22C55E">
                <a:alpha val="88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6093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95744" y="14264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095744" y="1773936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Weekly — a playlist made exactly for you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65760" y="2871216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30352" y="3163824"/>
            <a:ext cx="566928" cy="566928"/>
          </a:xfrm>
          <a:prstGeom prst="ellipse">
            <a:avLst/>
          </a:prstGeom>
          <a:solidFill>
            <a:srgbClr val="F59E0B">
              <a:alpha val="88000"/>
            </a:srgbClr>
          </a:solidFill>
          <a:ln w="12700">
            <a:solidFill>
              <a:srgbClr val="F59E0B">
                <a:alpha val="88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7355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07008" y="3090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207008" y="3438144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replies, spam filtering, priority inbox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10128" y="2871216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3163824"/>
            <a:ext cx="566928" cy="566928"/>
          </a:xfrm>
          <a:prstGeom prst="ellipse">
            <a:avLst/>
          </a:prstGeom>
          <a:solidFill>
            <a:srgbClr val="EF4444">
              <a:alpha val="88000"/>
            </a:srgbClr>
          </a:solidFill>
          <a:ln w="12700">
            <a:solidFill>
              <a:srgbClr val="EF4444">
                <a:alpha val="88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327355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51376" y="3090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151376" y="3438144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thumbnail you see to keep you clicking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54496" y="2871216"/>
            <a:ext cx="27889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19088" y="3163824"/>
            <a:ext cx="566928" cy="566928"/>
          </a:xfrm>
          <a:prstGeom prst="ellipse">
            <a:avLst/>
          </a:prstGeom>
          <a:solidFill>
            <a:srgbClr val="8B5CF6">
              <a:alpha val="88000"/>
            </a:srgbClr>
          </a:solidFill>
          <a:ln w="12700">
            <a:solidFill>
              <a:srgbClr val="8B5CF6">
                <a:alpha val="88000"/>
              </a:srgbClr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327355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95744" y="3090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095744" y="3438144"/>
            <a:ext cx="1810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noise cancellation removes your background sounds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365760" y="4572000"/>
            <a:ext cx="8412480" cy="338328"/>
          </a:xfrm>
          <a:prstGeom prst="roundRect">
            <a:avLst>
              <a:gd name="adj" fmla="val 27027"/>
            </a:avLst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365760" y="4572000"/>
            <a:ext cx="8412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you typed a rule for any of this.  The machine learned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9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Years of AI History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winters. One revolution. And a 15-page paper that changed everything.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0467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274320" cy="2743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2996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0" y="173736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202996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Hype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Winter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02996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37760" y="1737360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02996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02996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98080" y="1737360"/>
            <a:ext cx="274320" cy="2743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202996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1821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officially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at Dartmouth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51760" y="301752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51760" y="31821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651760" y="3794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collapses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Winters)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1821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paper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58000" y="301752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31821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days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858000" y="3794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million users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301752"/>
          </a:xfrm>
          <a:prstGeom prst="roundRect">
            <a:avLst>
              <a:gd name="adj" fmla="val 36364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Dream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207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 – 1955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machines think?”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993392"/>
            <a:ext cx="2788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 &amp; Pitts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44368"/>
            <a:ext cx="2487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mathematical model of a neuron — logic gates that mimic brain cells. The seed of all neural networks.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5848" y="1993392"/>
            <a:ext cx="2788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93008" y="2148840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21488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93008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93008" y="2944368"/>
            <a:ext cx="2487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'Computing Machinery and Intelligence.' Proposes the Turing Test: if a machine fools a human in conversation, it thinks.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0216" y="1993392"/>
            <a:ext cx="2788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37376" y="2148840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21488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37376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Conference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37376" y="2944368"/>
            <a:ext cx="248716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McCarthy coins 'Artificial Intelligence.' Researchers declare: we will make machines that reason like humans. AI is born as a field.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301752"/>
          </a:xfrm>
          <a:prstGeom prst="roundRect">
            <a:avLst>
              <a:gd name="adj" fmla="val 3636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2 &amp;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Hype. Crash. Repeat.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&amp; Second AI Winters  ·  1956–1993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4160520" cy="3108960"/>
          </a:xfrm>
          <a:prstGeom prst="roundRect">
            <a:avLst>
              <a:gd name="adj" fmla="val 2941"/>
            </a:avLst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3736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830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Winter  (1974)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304288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3113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programs solved algebra and proved theorems. Hype exploded.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88950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 (1966): MIT chatbot that mimicked a therapist. People got emotionally attached.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621024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5478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pure hand-coded rules. They broke outside narrow domains.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42793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2062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lost faith. Funding dried up. The dream froze.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1737360"/>
            <a:ext cx="4160520" cy="3108960"/>
          </a:xfrm>
          <a:prstGeom prst="roundRect">
            <a:avLst>
              <a:gd name="adj" fmla="val 2941"/>
            </a:avLst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73736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7830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Winter  (late 1980s)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230428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0368" y="223113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Systems: thousands of if-then rules written by domain experts.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0" y="296265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288950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MYCIN (Stanford) diagnosed blood infections better than junior doctors — using 600 rules.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0" y="362102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354787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rule bases became a nightmare. The world is too complex for manual encoding.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0" y="427939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420624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funding collapse. The field nearly died again.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4617720"/>
            <a:ext cx="8321040" cy="347472"/>
          </a:xfrm>
          <a:prstGeom prst="roundRect">
            <a:avLst>
              <a:gd name="adj" fmla="val 26316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1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 from both winters: hand-written rules don’t scale. The world is too messy.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301752"/>
          </a:xfrm>
          <a:prstGeom prst="roundRect">
            <a:avLst>
              <a:gd name="adj" fmla="val 36364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Emerges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16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  ·  The philosophical shift that changed everything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801368"/>
            <a:ext cx="731520" cy="731520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819656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⛔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12140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writes rules → machine follows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645920"/>
            <a:ext cx="39776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801368"/>
            <a:ext cx="731520" cy="731520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1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819656"/>
            <a:ext cx="694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669280" y="1737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212140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 gives examples → machine finds rules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278892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090672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906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41985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LeCun's CNN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877056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practical Convolutional Neural Network trained to read handwritten digits for the US Postal Service. Real-world AI.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55848" y="2944368"/>
            <a:ext cx="278892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93008" y="3090672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30906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93008" y="341985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beats Kasparov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93008" y="3877056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chess computer defeats the world champion. Not ML — but a cultural milestone. Machines beating humans at complex reasoning.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0216" y="2944368"/>
            <a:ext cx="278892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37376" y="3090672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30906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37376" y="341985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ML Dominates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37376" y="3877056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Trees, SVMs, Random Forests. Gmail's spam filter, credit card fraud detection, early recommendation engines — all ML.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301752"/>
          </a:xfrm>
          <a:prstGeom prst="roundRect">
            <a:avLst>
              <a:gd name="adj" fmla="val 3636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Deep Learning Revolution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– 2012  ·  The idea was always right. We just needed more data and compute.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719072"/>
            <a:ext cx="3977640" cy="3108960"/>
          </a:xfrm>
          <a:prstGeom prst="roundRect">
            <a:avLst>
              <a:gd name="adj" fmla="val 2941"/>
            </a:avLst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28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AlexNet Moment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542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Error Rate: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81635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3063240"/>
            <a:ext cx="548640" cy="0"/>
          </a:xfrm>
          <a:prstGeom prst="line">
            <a:avLst/>
          </a:prstGeom>
          <a:noFill/>
          <a:ln w="25400">
            <a:solidFill>
              <a:srgbClr val="00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81635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15.3%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60320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half the gap to human-level accuracy in a single year. The AI world watched in shock.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1719072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828800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8288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215798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 reignites neural nets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23560" y="18288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'Godfather of AI' shows deep networks can be trained effectively. The field wakes up.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0" y="2743200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852928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852928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31821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released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23560" y="285292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million labeled images. The fuel that makes deep learning possible.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767328"/>
            <a:ext cx="4160520" cy="896112"/>
          </a:xfrm>
          <a:prstGeom prst="roundRect">
            <a:avLst>
              <a:gd name="adj" fmla="val 10204"/>
            </a:avLst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877056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87705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42062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the Big Bang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23560" y="38770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Krizhevsky's GPU-powered CNN shatters ImageNet records. Modern AI begins here.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301752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GPU Era &amp; Scale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11480" y="1216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– 2017  ·  Throw more data and more compute at 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411480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828800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8288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2194560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61288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Invented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61288" y="2212848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Goodfellow creates Generative Adversarial Networks. Two networks fight: one generates fakes, one detects them. How AI-generated faces work.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691640"/>
            <a:ext cx="411480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19472" y="1828800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472" y="18288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194560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04688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buys DeepMind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504688" y="2212848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AI acquisition in history. A small London lab with a huge mission: solve intelligence.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11480" y="3291840"/>
            <a:ext cx="411480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6072" y="3429000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6072" y="34290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794760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61288" y="3429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beats Lee Sedol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161288" y="3813048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has more positions than atoms in the universe. No human-written rules — pure learned strategy. The world takes AI seriously.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754880" y="3291840"/>
            <a:ext cx="411480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919472" y="3429000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919472" y="342900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794760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04688" y="3429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Drops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5504688" y="3813048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'Attention Is All You Need' — 8 researchers, 15 pages, one transformer architecture. Everything after this is built on this paper.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301752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Is All You Need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Brain  ·  2017  ·  The 15-page paper that underlies every modern AI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737360"/>
            <a:ext cx="4069080" cy="2331720"/>
          </a:xfrm>
          <a:prstGeom prst="roundRect">
            <a:avLst>
              <a:gd name="adj" fmla="val 3922"/>
            </a:avLst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737360"/>
            <a:ext cx="4069080" cy="365760"/>
          </a:xfrm>
          <a:prstGeom prst="roundRect">
            <a:avLst>
              <a:gd name="adj" fmla="val 25000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7393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RNNs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" y="230428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128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words one by one, left to right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" y="276148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6700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couldn't be parallelised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" y="321868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1272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early context in long sentences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" y="367588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5844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bank near the river bank" confused 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4069080" cy="2331720"/>
          </a:xfrm>
          <a:prstGeom prst="roundRect">
            <a:avLst>
              <a:gd name="adj" fmla="val 3922"/>
            </a:avLst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737360"/>
            <a:ext cx="4069080" cy="365760"/>
          </a:xfrm>
          <a:prstGeom prst="roundRect">
            <a:avLst>
              <a:gd name="adj" fmla="val 25000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77393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Transformers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56048" y="230428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22128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ALL words simultaneously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56048" y="276148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6700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Parallelised — runs on thousands of GPUs at once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56048" y="321868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31272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learns which words relate to which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56048" y="3675888"/>
            <a:ext cx="118872" cy="1188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35844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'bank' differently based on full context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4206240"/>
            <a:ext cx="8321040" cy="685800"/>
          </a:xfrm>
          <a:prstGeom prst="roundRect">
            <a:avLst>
              <a:gd name="adj" fmla="val 13333"/>
            </a:avLst>
          </a:prstGeom>
          <a:solidFill>
            <a:srgbClr val="0F203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43159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— 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40280" y="431596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generating each word, the model looks back at the entire conversation and weighs which earlier words matter most. This is how it understands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463040" cy="301752"/>
          </a:xfrm>
          <a:prstGeom prst="roundRect">
            <a:avLst>
              <a:gd name="adj" fmla="val 36364"/>
            </a:avLst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Era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216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Present  ·  Scale the Transformer. A lot.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664208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73936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7393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755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773936"/>
            <a:ext cx="1078992" cy="256032"/>
          </a:xfrm>
          <a:prstGeom prst="roundRect">
            <a:avLst>
              <a:gd name="adj" fmla="val 35714"/>
            </a:avLst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77393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 params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71600" y="210312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first large language model. Transforms Google Search overnight.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1664208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10328" y="1773936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773936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33288" y="1755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99248" y="1773936"/>
            <a:ext cx="1078992" cy="256032"/>
          </a:xfrm>
          <a:prstGeom prst="roundRect">
            <a:avLst>
              <a:gd name="adj" fmla="val 35714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1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9248" y="177393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params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733288" y="210312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nearly didn't release it — too good at generating convincing text.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779776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889504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8950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71600" y="2871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2889504"/>
            <a:ext cx="1078992" cy="256032"/>
          </a:xfrm>
          <a:prstGeom prst="roundRect">
            <a:avLst>
              <a:gd name="adj" fmla="val 35714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>
                <a:alpha val="1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8895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175B params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71600" y="32186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code, essays, answers questions. The world notices AI is real.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2779776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10328" y="2889504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0328" y="2889504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33288" y="2871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99248" y="2889504"/>
            <a:ext cx="1078992" cy="256032"/>
          </a:xfrm>
          <a:prstGeom prst="roundRect">
            <a:avLst>
              <a:gd name="adj" fmla="val 35714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9248" y="28895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users in 60 days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33288" y="32186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product adoption in history. The moment AI entered everyday life.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3895344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4005072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0050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71600" y="3986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GPT-4, Gemini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337560" y="4005072"/>
            <a:ext cx="1078992" cy="256032"/>
          </a:xfrm>
          <a:prstGeom prst="roundRect">
            <a:avLst>
              <a:gd name="adj" fmla="val 35714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18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400507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371600" y="43342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tech company releases a frontier model. The competition begins.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73168" y="3895344"/>
            <a:ext cx="41605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10328" y="4005072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0328" y="400507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33288" y="39867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+ Agents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699248" y="4005072"/>
            <a:ext cx="1078992" cy="256032"/>
          </a:xfrm>
          <a:prstGeom prst="roundRect">
            <a:avLst>
              <a:gd name="adj" fmla="val 35714"/>
            </a:avLst>
          </a:prstGeom>
          <a:solidFill>
            <a:srgbClr val="00C8FF">
              <a:alpha val="18000"/>
            </a:srgbClr>
          </a:solidFill>
          <a:ln w="12700">
            <a:solidFill>
              <a:srgbClr val="00C8FF">
                <a:alpha val="1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99248" y="400507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733288" y="43342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think step-by-step and act autonomously in the world. We are here.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LLM Actually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concepts. That’s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788920" cy="31546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89888"/>
            <a:ext cx="658368" cy="6583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89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6072" y="217627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it the entire internet. It learns to predict the next word — billions of times. By doing this repeatedly it absorbs grammar, facts, code patterns, reasoning, and common sense.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76072" y="3657600"/>
            <a:ext cx="2468880" cy="256032"/>
          </a:xfrm>
          <a:prstGeom prst="roundRect">
            <a:avLst>
              <a:gd name="adj" fmla="val 35714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learning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55848" y="1234440"/>
            <a:ext cx="2788920" cy="31546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8728" y="1389888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389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15968" y="14173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217627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read words — it reads chunks called tokens. 'Unhappiness' = 3 tokens. 'cat' = 1 token. Every input gets broken down before the model processes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20440" y="3657600"/>
            <a:ext cx="2468880" cy="256032"/>
          </a:xfrm>
          <a:prstGeom prst="roundRect">
            <a:avLst>
              <a:gd name="adj" fmla="val 35714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of ~100K pieces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0216" y="1234440"/>
            <a:ext cx="2788920" cy="31546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83096" y="1389888"/>
            <a:ext cx="658368" cy="65836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3096" y="1389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60336" y="14173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64808" y="217627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generating each word, the model looks back at the entire conversation and weighs which earlier words matter most for the next prediction. Context is everything.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64808" y="3657600"/>
            <a:ext cx="2468880" cy="256032"/>
          </a:xfrm>
          <a:prstGeom prst="roundRect">
            <a:avLst>
              <a:gd name="adj" fmla="val 35714"/>
            </a:avLst>
          </a:prstGeom>
          <a:solidFill>
            <a:srgbClr val="00C8FF">
              <a:alpha val="15000"/>
            </a:srgbClr>
          </a:solidFill>
          <a:ln w="12700">
            <a:solidFill>
              <a:srgbClr val="00C8FF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64808" y="3657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Transformer's core trick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4498848"/>
            <a:ext cx="83210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4572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Analogy: 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691640" y="4572000"/>
            <a:ext cx="6903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read every book ever written and can now continue any sentence you start — not by looking it up, but by having internalised how language and ideas work.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C8FF">
              <a:alpha val="9000"/>
            </a:srgbClr>
          </a:solidFill>
          <a:ln w="12700">
            <a:solidFill>
              <a:srgbClr val="00C8FF">
                <a:alpha val="9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didn’t happen overnight.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took 80 years, two winters, and a 15-page paper.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isn’t the idea — it’s the scale.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C8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we are at the very beginning of what scale can do.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2633472" cy="384048"/>
          </a:xfrm>
          <a:prstGeom prst="roundRect">
            <a:avLst>
              <a:gd name="adj" fmla="val 42857"/>
            </a:avLst>
          </a:prstGeom>
          <a:solidFill>
            <a:srgbClr val="1A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886200"/>
            <a:ext cx="201168" cy="20116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794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AI = stay relevant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56432" y="3794760"/>
            <a:ext cx="2633472" cy="384048"/>
          </a:xfrm>
          <a:prstGeom prst="roundRect">
            <a:avLst>
              <a:gd name="adj" fmla="val 42857"/>
            </a:avLst>
          </a:prstGeom>
          <a:solidFill>
            <a:srgbClr val="1A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93592" y="3886200"/>
            <a:ext cx="201168" cy="20116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67912" y="3794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= move 10x faster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72784" y="3794760"/>
            <a:ext cx="2633472" cy="384048"/>
          </a:xfrm>
          <a:prstGeom prst="roundRect">
            <a:avLst>
              <a:gd name="adj" fmla="val 42857"/>
            </a:avLst>
          </a:prstGeom>
          <a:solidFill>
            <a:srgbClr val="1A294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9944" y="3886200"/>
            <a:ext cx="201168" cy="201168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84264" y="37947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 = fall behind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407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Story of AI</dc:title>
  <dc:subject>PptxGenJS Presentation</dc:subject>
  <dc:creator>PptxGenJS</dc:creator>
  <cp:lastModifiedBy>PptxGenJS</cp:lastModifiedBy>
  <cp:revision>1</cp:revision>
  <dcterms:created xsi:type="dcterms:W3CDTF">2026-06-24T04:08:23Z</dcterms:created>
  <dcterms:modified xsi:type="dcterms:W3CDTF">2026-06-24T04:08:23Z</dcterms:modified>
</cp:coreProperties>
</file>